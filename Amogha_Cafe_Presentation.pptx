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914400"/>
            <a:ext cx="6400800" cy="6400800"/>
          </a:xfrm>
          <a:prstGeom prst="ellipse">
            <a:avLst/>
          </a:prstGeom>
          <a:solidFill>
            <a:srgbClr val="150E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74920" y="118872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PRODUCT  OVERVIEW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</a:pPr>
            <a:r>
              <a:rPr sz="5200" b="1">
                <a:solidFill>
                  <a:srgbClr val="D4A017"/>
                </a:solidFill>
                <a:latin typeface="Calibri"/>
              </a:rPr>
              <a:t>Amogha</a:t>
            </a:r>
            <a:r>
              <a:rPr sz="5200" b="1">
                <a:solidFill>
                  <a:srgbClr val="FAF7F2"/>
                </a:solidFill>
                <a:latin typeface="Calibri"/>
              </a:rPr>
              <a:t> Cafe
&amp; Restaurant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794760"/>
            <a:ext cx="1371600" cy="25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0233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A09588"/>
                </a:solidFill>
                <a:latin typeface="Calibri"/>
              </a:defRPr>
            </a:pPr>
            <a:r>
              <a:t>A full-stack, AI-powered restaurant platform — from online ordering</a:t>
            </a:r>
            <a:br/>
            <a:r>
              <a:t>to kitchen ops, delivery, and analytics.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APP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029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AI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29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16+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029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2,059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4920" y="54864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THE 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515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FAF7F2"/>
                </a:solidFill>
                <a:latin typeface="Calibri"/>
              </a:rPr>
              <a:t>Restaurants Run on </a:t>
            </a:r>
            <a:r>
              <a:rPr sz="3600" b="1">
                <a:solidFill>
                  <a:srgbClr val="D4A017"/>
                </a:solidFill>
                <a:latin typeface="Calibri"/>
              </a:rPr>
              <a:t>Disconnected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A09588"/>
                </a:solidFill>
                <a:latin typeface="Calibri"/>
              </a:defRPr>
            </a:pPr>
            <a:r>
              <a:t>Separate apps for ordering, kitchen management, delivery, payments, and analytics</a:t>
            </a:r>
            <a:br/>
            <a:r>
              <a:t>create chaos, data silos, and poor customer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474720" cy="32004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📱 ↔ 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Fragmented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Staff juggles 5+ tools for daily operations — POS, kitchen tickets, delivery apps, accounting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926080"/>
            <a:ext cx="3474720" cy="32004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92608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No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8862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Menu decisions, demand forecasting, and customer insights require manual analysis with spreadsheets.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926080"/>
            <a:ext cx="3474720" cy="32004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92608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Lost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8862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Poor ordering UX, no personalization, no upsell — customers leave without completing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4920" y="45720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OUR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FAF7F2"/>
                </a:solidFill>
                <a:latin typeface="Calibri"/>
              </a:rPr>
              <a:t>One Platform. </a:t>
            </a:r>
            <a:r>
              <a:rPr sz="3600" b="1">
                <a:solidFill>
                  <a:srgbClr val="D4A017"/>
                </a:solidFill>
                <a:latin typeface="Calibri"/>
              </a:rPr>
              <a:t>Every Surface.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554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A09588"/>
                </a:solidFill>
                <a:latin typeface="Calibri"/>
              </a:defRPr>
            </a:pPr>
            <a:r>
              <a:t>Amogha unifies the entire restaurant operation into a single real-time platform powered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214884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Online Ordering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926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PWA with smart search, AI chatbot, recommendations, Razorpay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86000"/>
            <a:ext cx="3474720" cy="214884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Kitchen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46120"/>
            <a:ext cx="2926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Real-time order queue with prep timers, priority sorting, station filtering.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474720" cy="214884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228600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POS Terminal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46120"/>
            <a:ext cx="2926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Staff-facing counter ordering with receipt generation and quick-access menu.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3474720" cy="214884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70916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Delivery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2926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Driver assignments, navigation, earnings tracking, live status updates.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709160"/>
            <a:ext cx="3474720" cy="214884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0" y="470916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Self-Service Kiosk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669280"/>
            <a:ext cx="2926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Touch-first ordering with voice support and multi-tenant capability.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709160"/>
            <a:ext cx="3474720" cy="214884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83880" y="470916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669280"/>
            <a:ext cx="2926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Orders, menu, inventory, staff, expenses, and AI-powered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45720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POWERED  BY  GEMINI  2.0 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D4A017"/>
                </a:solidFill>
                <a:latin typeface="Calibri"/>
              </a:rPr>
              <a:t>11</a:t>
            </a:r>
            <a:r>
              <a:rPr sz="3600" b="1">
                <a:solidFill>
                  <a:srgbClr val="FAF7F2"/>
                </a:solidFill>
                <a:latin typeface="Calibri"/>
              </a:rPr>
              <a:t> AI-Powered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554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A09588"/>
                </a:solidFill>
                <a:latin typeface="Calibri"/>
              </a:defRPr>
            </a:pPr>
            <a:r>
              <a:t>Every AI feature runs server-side via Google Vertex AI, protecting API keys and enabling rich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94960" cy="41148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530352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AF7F2"/>
                </a:solidFill>
                <a:latin typeface="Calibri"/>
              </a:defRPr>
            </a:pPr>
            <a:r>
              <a:t>💬  Customer-Facing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Conversational AI chatbot for ordering &amp; FAQs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Smart semantic menu search ("something spicy under ₹300")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Personalized meal &amp; combo recommendations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AI-generated subscription meal plans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"AI For You" personalized section on homepage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94960" cy="41148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2286000"/>
            <a:ext cx="530352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AF7F2"/>
                </a:solidFill>
                <a:latin typeface="Calibri"/>
              </a:defRPr>
            </a:pPr>
            <a:r>
              <a:t>💼  Operations &amp;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Bill/receipt OCR with expense categorization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Natural language analytics queries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Demand forecasting &amp; inventory planning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Automated review sentiment analysis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Menu profitability insights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Smart push notification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92040" y="45720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CUSTOMER 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FAF7F2"/>
                </a:solidFill>
                <a:latin typeface="Calibri"/>
              </a:rPr>
              <a:t>Designed to </a:t>
            </a:r>
            <a:r>
              <a:rPr sz="3600" b="1">
                <a:solidFill>
                  <a:srgbClr val="D4A017"/>
                </a:solidFill>
                <a:latin typeface="Calibri"/>
              </a:rPr>
              <a:t>Delight &amp; Convert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Smart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UPI, cards, wallets via Razorpay. Coupons, gift cards, split bill, COD.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Loyalty &amp; Badges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3-tier rewards (Bronze / Silver / Gold), 10 badges, birthday bonuses.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Group Ordering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Shared carts for friends &amp; family with real-time sync and split payments.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8288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889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Full support for English, Hindi, and Telugu across every screen.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3434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3434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83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Live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Real-time delivery map with Leaflet.js and OpenStreetMap integration.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43434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37560" y="43434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983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Reservations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3035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Table booking with time slots and WhatsApp confirmation.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3434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43434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983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3035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FCM-powered alerts for order status, promotions, and milestones.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343400"/>
            <a:ext cx="2697480" cy="224028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89720" y="4343400"/>
            <a:ext cx="260604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AF7F2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983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AF7F2"/>
                </a:solidFill>
                <a:latin typeface="Calibri"/>
              </a:defRPr>
            </a:pPr>
            <a:r>
              <a:t>Subscriptions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303520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A09588"/>
                </a:solidFill>
                <a:latin typeface="Calibri"/>
              </a:defRPr>
            </a:pPr>
            <a:r>
              <a:t>AI-generated meal plans with recurring orders and preference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00600" y="45720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TECHNICAL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FAF7F2"/>
                </a:solidFill>
                <a:latin typeface="Calibri"/>
              </a:rPr>
              <a:t>Built on </a:t>
            </a:r>
            <a:r>
              <a:rPr sz="3600" b="1">
                <a:solidFill>
                  <a:srgbClr val="D4A017"/>
                </a:solidFill>
                <a:latin typeface="Calibri"/>
              </a:rPr>
              <a:t>Firebase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554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A09588"/>
                </a:solidFill>
                <a:latin typeface="Calibri"/>
              </a:defRPr>
            </a:pPr>
            <a:r>
              <a:t>Real-time data sync across all 9 surfaces with zero server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2743200"/>
          </a:xfrm>
          <a:prstGeom prst="roundRect">
            <a:avLst/>
          </a:prstGeom>
          <a:solidFill>
            <a:srgbClr val="150E09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6675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Consolas"/>
              </a:defRPr>
            </a:pPr>
            <a:r>
              <a:t>9 App Surfaces  (PWA + Kiosk + POS + KDS + ...)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A09588"/>
                </a:solidFill>
                <a:latin typeface="Consolas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Consolas"/>
              </a:defRPr>
            </a:pPr>
            <a:r>
              <a:t>Vite 5  →  Bundled ES Modules  →  Firebase Hosting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A09588"/>
                </a:solidFill>
                <a:latin typeface="Consolas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Consolas"/>
              </a:defRPr>
            </a:pPr>
            <a:r>
              <a:t>Cloud Firestore  (17+ collections, real-time listeners)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A09588"/>
                </a:solidFill>
                <a:latin typeface="Consolas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Consolas"/>
              </a:defRPr>
            </a:pPr>
            <a:r>
              <a:t>Cloud Functions  (Express API, 16+ endpoints)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A09588"/>
                </a:solidFill>
                <a:latin typeface="Consolas"/>
              </a:defRPr>
            </a:pPr>
            <a:r>
              <a:t>↓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Consolas"/>
              </a:defRPr>
            </a:pPr>
            <a:r>
              <a:t>Vertex AI (Gemini 2.0)  +  Razorpay  +  FCM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Vanilla 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521208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Vite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21208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Firestore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521208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Cloud 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521208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Gemini 2.0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521208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Razorpay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Leaflet.js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562356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562356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FCM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562356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562356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Vitest/Jest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5623560"/>
            <a:ext cx="1691640" cy="292608"/>
          </a:xfrm>
          <a:prstGeom prst="roundRect">
            <a:avLst/>
          </a:prstGeom>
          <a:solidFill>
            <a:srgbClr val="2A1E16"/>
          </a:solidFill>
          <a:ln w="9525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FAF7F2"/>
                </a:solidFill>
                <a:latin typeface="Calibri"/>
              </a:defRPr>
            </a:pPr>
            <a:r>
              <a:t>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4920" y="45720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DATA 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D4A017"/>
                </a:solidFill>
                <a:latin typeface="Calibri"/>
              </a:rPr>
              <a:t>17+</a:t>
            </a:r>
            <a:r>
              <a:rPr sz="3600" b="1">
                <a:solidFill>
                  <a:srgbClr val="FAF7F2"/>
                </a:solidFill>
                <a:latin typeface="Calibri"/>
              </a:rPr>
              <a:t> Firestore Collections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600200"/>
            <a:ext cx="1371600" cy="25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1148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AF7F2"/>
                </a:solidFill>
                <a:latin typeface="Calibri"/>
              </a:defRPr>
            </a:pPr>
            <a:r>
              <a:t>🛒 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menu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orders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addons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coupons / giftCards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specials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41148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AF7F2"/>
                </a:solidFill>
                <a:latin typeface="Calibri"/>
              </a:defRPr>
            </a:pPr>
            <a:r>
              <a:t>👤  Users &amp;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346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users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reviews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referrals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chatHistory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reservations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474720" cy="41148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2011680"/>
            <a:ext cx="338328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AF7F2"/>
                </a:solidFill>
                <a:latin typeface="Calibri"/>
              </a:defRPr>
            </a:pPr>
            <a:r>
              <a:t>⚙️ 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346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inventory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staff / expenses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deliveryPersons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tables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A09588"/>
                </a:solidFill>
                <a:latin typeface="Calibri"/>
              </a:defRPr>
            </a:pPr>
            <a:r>
              <a:t>•  settings / branches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92040" y="45720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ENGINEERING 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FAF7F2"/>
                </a:solidFill>
                <a:latin typeface="Calibri"/>
              </a:rPr>
              <a:t>Tested. Secured. </a:t>
            </a:r>
            <a:r>
              <a:rPr sz="3600" b="1">
                <a:solidFill>
                  <a:srgbClr val="D4A017"/>
                </a:solidFill>
                <a:latin typeface="Calibri"/>
              </a:rPr>
              <a:t>Production-Ready.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600200"/>
            <a:ext cx="1371600" cy="25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2,059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API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AUTO-DEPLOY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394960" cy="32004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200400"/>
            <a:ext cx="530352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AF7F2"/>
                </a:solidFill>
                <a:latin typeface="Calibri"/>
              </a:defRPr>
            </a:pPr>
            <a:r>
              <a:t>🛡️ 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Admin API key authentication middleware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Rate limiting (30 req/min) on AI endpoints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Prompt injection sanitization (control chars, 2K limit)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Firestore security rules for access control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Input validation on all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394960" cy="32004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200400"/>
            <a:ext cx="530352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AF7F2"/>
                </a:solidFill>
                <a:latin typeface="Calibri"/>
              </a:defRPr>
            </a:pPr>
            <a:r>
              <a:t>⚡ 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Lazy module loading via requestIdleCallback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In-memory menu cache (10-min TTL) in Cloud Functions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Service workers for offline capability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Vite-bundled ES modules with tree-shaking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A09588"/>
                </a:solidFill>
                <a:latin typeface="Calibri"/>
              </a:defRPr>
            </a:pPr>
            <a:r>
              <a:t>•  Deferred AI recommendations (4s delay)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92040" y="457200"/>
            <a:ext cx="2011680" cy="320040"/>
          </a:xfrm>
          <a:prstGeom prst="roundRect">
            <a:avLst/>
          </a:prstGeom>
          <a:noFill/>
          <a:ln w="952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D4A017"/>
                </a:solidFill>
                <a:latin typeface="Calibri"/>
              </a:defRPr>
            </a:pPr>
            <a:r>
              <a:t>LIVE  IN 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D4A017"/>
                </a:solidFill>
                <a:latin typeface="Calibri"/>
              </a:rPr>
              <a:t>Amogha</a:t>
            </a:r>
            <a:r>
              <a:rPr sz="3600" b="1">
                <a:solidFill>
                  <a:srgbClr val="FAF7F2"/>
                </a:solidFill>
                <a:latin typeface="Calibri"/>
              </a:rPr>
              <a:t> — Hyderabad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600200"/>
            <a:ext cx="1371600" cy="25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502920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AF7F2"/>
                </a:solidFill>
                <a:latin typeface="Calibri"/>
              </a:defRPr>
            </a:pPr>
            <a:r>
              <a:t>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AF7F2"/>
                </a:solidFill>
                <a:latin typeface="Calibri"/>
              </a:defRPr>
            </a:pPr>
            <a:r>
              <a:t>Authentic Indian Cuisine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A09588"/>
                </a:solidFill>
                <a:latin typeface="Calibri"/>
              </a:defRPr>
            </a:pPr>
            <a:r>
              <a:t>South Indian, Hyderabadi, and Pan-Indian</a:t>
            </a:r>
            <a:br/>
            <a:r>
              <a:t>specialties served from Kukatpally, Hyderabad.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200" b="0">
                <a:solidFill>
                  <a:srgbClr val="A09588"/>
                </a:solidFill>
                <a:latin typeface="Calibri"/>
              </a:defRPr>
            </a:pPr>
            <a:r>
              <a:t>📍 Pragathi Nagar Rd, Kukatpally</a:t>
            </a:r>
            <a:br/>
            <a:r>
              <a:t>📞 +91 91210 04999</a:t>
            </a:r>
            <a:br/>
            <a:r>
              <a:t>⏰ Mon-Thu 11:00-21:30 · Fri-Sat till 22:30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120640" cy="4114800"/>
          </a:xfrm>
          <a:prstGeom prst="roundRect">
            <a:avLst/>
          </a:prstGeom>
          <a:solidFill>
            <a:srgbClr val="2A1E16"/>
          </a:solidFill>
          <a:ln w="12700">
            <a:solidFill>
              <a:srgbClr val="3D2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011680"/>
            <a:ext cx="5029200" cy="2540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AF7F2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AF7F2"/>
                </a:solidFill>
                <a:latin typeface="Calibri"/>
              </a:defRPr>
            </a:pPr>
            <a:r>
              <a:t>Customer Love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383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4.8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383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D4A017"/>
                </a:solidFill>
                <a:latin typeface="Calibri"/>
              </a:defRPr>
            </a:pPr>
            <a:r>
              <a:t>1,250+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A09588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A09588"/>
                </a:solidFill>
                <a:latin typeface="Calibri"/>
              </a:defRPr>
            </a:pPr>
            <a:r>
              <a:t>Free delivery on orders above ₹500.</a:t>
            </a:r>
            <a:br/>
            <a:r>
              <a:t>Happy Hour deals daily.</a:t>
            </a:r>
            <a:br/>
            <a:r>
              <a:t>3-tier loyalty program.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150E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>
                <a:solidFill>
                  <a:srgbClr val="FAF7F2"/>
                </a:solidFill>
                <a:latin typeface="Calibri"/>
              </a:rPr>
              <a:t>The </a:t>
            </a:r>
            <a:r>
              <a:rPr sz="4800" b="1">
                <a:solidFill>
                  <a:srgbClr val="D4A017"/>
                </a:solidFill>
                <a:latin typeface="Calibri"/>
              </a:rPr>
              <a:t>Complete</a:t>
            </a:r>
            <a:r>
              <a:rPr sz="4800" b="1">
                <a:solidFill>
                  <a:srgbClr val="FAF7F2"/>
                </a:solidFill>
                <a:latin typeface="Calibri"/>
              </a:rPr>
              <a:t> Restaurant
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383280"/>
            <a:ext cx="1371600" cy="25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spcAft>
                <a:spcPts val="0"/>
              </a:spcAft>
              <a:defRPr sz="1600" b="0">
                <a:solidFill>
                  <a:srgbClr val="A09588"/>
                </a:solidFill>
                <a:latin typeface="Calibri"/>
              </a:defRPr>
            </a:pPr>
            <a:r>
              <a:t>One codebase. Nine surfaces. Real-time everything.</a:t>
            </a:r>
            <a:br/>
            <a:r>
              <a:t>Powered by AI. Built on Firebase. Ready to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663440"/>
            <a:ext cx="1920240" cy="365760"/>
          </a:xfrm>
          <a:prstGeom prst="round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017"/>
                </a:solidFill>
                <a:latin typeface="Calibri"/>
              </a:defRPr>
            </a:pPr>
            <a:r>
              <a:t>amoghahotels.com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663440"/>
            <a:ext cx="1920240" cy="365760"/>
          </a:xfrm>
          <a:prstGeom prst="round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017"/>
                </a:solidFill>
                <a:latin typeface="Calibri"/>
              </a:defRPr>
            </a:pPr>
            <a:r>
              <a:t>amogha-cafe.web.app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4864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  <a:defRPr sz="1000" b="0">
                <a:solidFill>
                  <a:srgbClr val="60554A"/>
                </a:solidFill>
                <a:latin typeface="Calibri"/>
              </a:defRPr>
            </a:pPr>
            <a:r>
              <a:t>Built with Firebase · Vertex AI · Razorpay · Vite</a:t>
            </a:r>
            <a:br/>
            <a:r>
              <a:t>© 2026 Amogha Cafe &amp;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